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257" r:id="rId2"/>
    <p:sldId id="262" r:id="rId3"/>
    <p:sldId id="269" r:id="rId4"/>
    <p:sldId id="259" r:id="rId5"/>
  </p:sldIdLst>
  <p:sldSz cx="18288000" cy="10287000"/>
  <p:notesSz cx="6858000" cy="9144000"/>
  <p:embeddedFontLst>
    <p:embeddedFont>
      <p:font typeface="Aileron Bold" panose="020B0604020202020204" charset="0"/>
      <p:regular r:id="rId7"/>
    </p:embeddedFont>
    <p:embeddedFont>
      <p:font typeface="Alegreya Sans SC Bold" panose="020B0604020202020204" charset="0"/>
      <p:regular r:id="rId8"/>
    </p:embeddedFont>
    <p:embeddedFont>
      <p:font typeface="Calibri" panose="020F0502020204030204" pitchFamily="34" charset="0"/>
      <p:regular r:id="rId9"/>
      <p:bold r:id="rId10"/>
      <p:italic r:id="rId11"/>
      <p:bold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2" autoAdjust="0"/>
    <p:restoredTop sz="93987" autoAdjust="0"/>
  </p:normalViewPr>
  <p:slideViewPr>
    <p:cSldViewPr>
      <p:cViewPr varScale="1">
        <p:scale>
          <a:sx n="43" d="100"/>
          <a:sy n="43" d="100"/>
        </p:scale>
        <p:origin x="648"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6CA3AB-C063-47FA-9E55-219EBD53DD29}"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4EFF9-5C29-44E1-9726-02C32814982C}" type="slidenum">
              <a:rPr lang="en-US" smtClean="0"/>
              <a:t>‹#›</a:t>
            </a:fld>
            <a:endParaRPr lang="en-US"/>
          </a:p>
        </p:txBody>
      </p:sp>
    </p:spTree>
    <p:extLst>
      <p:ext uri="{BB962C8B-B14F-4D97-AF65-F5344CB8AC3E}">
        <p14:creationId xmlns:p14="http://schemas.microsoft.com/office/powerpoint/2010/main" val="859015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4EFF9-5C29-44E1-9726-02C32814982C}" type="slidenum">
              <a:rPr lang="en-US" smtClean="0"/>
              <a:t>3</a:t>
            </a:fld>
            <a:endParaRPr lang="en-US"/>
          </a:p>
        </p:txBody>
      </p:sp>
    </p:spTree>
    <p:extLst>
      <p:ext uri="{BB962C8B-B14F-4D97-AF65-F5344CB8AC3E}">
        <p14:creationId xmlns:p14="http://schemas.microsoft.com/office/powerpoint/2010/main" val="433981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svg"/><Relationship Id="rId9"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6200000">
            <a:off x="4275776" y="-4366567"/>
            <a:ext cx="10286999" cy="19020134"/>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p:cNvSpPr/>
          <p:nvPr/>
        </p:nvSpPr>
        <p:spPr>
          <a:xfrm flipV="1">
            <a:off x="68195" y="156921"/>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4" name="Freeform 4"/>
          <p:cNvSpPr/>
          <p:nvPr/>
        </p:nvSpPr>
        <p:spPr>
          <a:xfrm flipH="1">
            <a:off x="15814228" y="7598528"/>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952604" y="157546"/>
            <a:ext cx="3640196" cy="3385754"/>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alphaModFix amt="24000"/>
              <a:extLst>
                <a:ext uri="{96DAC541-7B7A-43D3-8B79-37D633B846F1}">
                  <asvg:svgBlip xmlns:asvg="http://schemas.microsoft.com/office/drawing/2016/SVG/main" r:embed="rId8"/>
                </a:ext>
              </a:extLst>
            </a:blip>
            <a:stretch>
              <a:fillRect/>
            </a:stretch>
          </a:blipFill>
        </p:spPr>
      </p:sp>
      <p:sp>
        <p:nvSpPr>
          <p:cNvPr id="6" name="Freeform 6"/>
          <p:cNvSpPr/>
          <p:nvPr/>
        </p:nvSpPr>
        <p:spPr>
          <a:xfrm>
            <a:off x="-106923" y="7739171"/>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r:embed="rId7">
              <a:alphaModFix amt="24000"/>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0" name="TextBox 10"/>
          <p:cNvSpPr txBox="1"/>
          <p:nvPr/>
        </p:nvSpPr>
        <p:spPr>
          <a:xfrm>
            <a:off x="8414361" y="1741928"/>
            <a:ext cx="8531143" cy="1102866"/>
          </a:xfrm>
          <a:prstGeom prst="rect">
            <a:avLst/>
          </a:prstGeom>
        </p:spPr>
        <p:txBody>
          <a:bodyPr lIns="0" tIns="0" rIns="0" bIns="0" rtlCol="0" anchor="t">
            <a:spAutoFit/>
          </a:bodyPr>
          <a:lstStyle/>
          <a:p>
            <a:pPr algn="ctr">
              <a:lnSpc>
                <a:spcPts val="8560"/>
              </a:lnSpc>
            </a:pPr>
            <a:endParaRPr lang="en-US" sz="8000" b="1" dirty="0">
              <a:solidFill>
                <a:srgbClr val="000000"/>
              </a:solidFill>
              <a:latin typeface="Alegreya Sans SC Bold"/>
              <a:ea typeface="Alegreya Sans SC Bold"/>
              <a:cs typeface="Alegreya Sans SC Bold"/>
              <a:sym typeface="Alegreya Sans SC Bold"/>
            </a:endParaRPr>
          </a:p>
        </p:txBody>
      </p:sp>
      <p:sp>
        <p:nvSpPr>
          <p:cNvPr id="11" name="TextBox 11"/>
          <p:cNvSpPr txBox="1"/>
          <p:nvPr/>
        </p:nvSpPr>
        <p:spPr>
          <a:xfrm>
            <a:off x="3719787" y="4325353"/>
            <a:ext cx="4733662" cy="714298"/>
          </a:xfrm>
          <a:prstGeom prst="rect">
            <a:avLst/>
          </a:prstGeom>
        </p:spPr>
        <p:txBody>
          <a:bodyPr lIns="0" tIns="0" rIns="0" bIns="0" rtlCol="0" anchor="t">
            <a:spAutoFit/>
          </a:bodyPr>
          <a:lstStyle/>
          <a:p>
            <a:pPr marL="863596" lvl="1" indent="-431798" algn="just">
              <a:lnSpc>
                <a:spcPts val="6159"/>
              </a:lnSpc>
              <a:buFont typeface="Arial"/>
              <a:buChar char="•"/>
            </a:pPr>
            <a:endParaRPr lang="en-US" sz="3999" b="1" dirty="0">
              <a:solidFill>
                <a:srgbClr val="3C3F42"/>
              </a:solidFill>
              <a:latin typeface="Aileron Bold"/>
              <a:ea typeface="Aileron Bold"/>
              <a:cs typeface="Aileron Bold"/>
              <a:sym typeface="Aileron Bold"/>
            </a:endParaRPr>
          </a:p>
        </p:txBody>
      </p:sp>
      <p:sp>
        <p:nvSpPr>
          <p:cNvPr id="12" name="TextBox 12"/>
          <p:cNvSpPr txBox="1"/>
          <p:nvPr/>
        </p:nvSpPr>
        <p:spPr>
          <a:xfrm>
            <a:off x="9481874" y="4325353"/>
            <a:ext cx="5395153" cy="714298"/>
          </a:xfrm>
          <a:prstGeom prst="rect">
            <a:avLst/>
          </a:prstGeom>
        </p:spPr>
        <p:txBody>
          <a:bodyPr lIns="0" tIns="0" rIns="0" bIns="0" rtlCol="0" anchor="t">
            <a:spAutoFit/>
          </a:bodyPr>
          <a:lstStyle/>
          <a:p>
            <a:pPr marL="863596" lvl="1" indent="-431798" algn="just">
              <a:lnSpc>
                <a:spcPts val="6159"/>
              </a:lnSpc>
              <a:buFont typeface="Arial"/>
              <a:buChar char="•"/>
            </a:pPr>
            <a:endParaRPr lang="en-US" sz="3999" b="1" dirty="0">
              <a:solidFill>
                <a:srgbClr val="3C3F42"/>
              </a:solidFill>
              <a:latin typeface="Aileron Bold"/>
              <a:ea typeface="Aileron Bold"/>
              <a:cs typeface="Aileron Bold"/>
              <a:sym typeface="Aileron Bold"/>
            </a:endParaRPr>
          </a:p>
        </p:txBody>
      </p:sp>
      <p:sp>
        <p:nvSpPr>
          <p:cNvPr id="15" name="Title 14">
            <a:extLst>
              <a:ext uri="{FF2B5EF4-FFF2-40B4-BE49-F238E27FC236}">
                <a16:creationId xmlns:a16="http://schemas.microsoft.com/office/drawing/2014/main" id="{7011B6EF-D34F-4A46-90D9-467CBE4CEE3D}"/>
              </a:ext>
            </a:extLst>
          </p:cNvPr>
          <p:cNvSpPr>
            <a:spLocks noGrp="1"/>
          </p:cNvSpPr>
          <p:nvPr>
            <p:ph type="title"/>
          </p:nvPr>
        </p:nvSpPr>
        <p:spPr>
          <a:xfrm>
            <a:off x="1415481" y="-2143024"/>
            <a:ext cx="13997759" cy="3272310"/>
          </a:xfrm>
        </p:spPr>
        <p:txBody>
          <a:bodyPr>
            <a:normAutofit/>
          </a:bodyPr>
          <a:lstStyle/>
          <a:p>
            <a:pPr>
              <a:lnSpc>
                <a:spcPct val="150000"/>
              </a:lnSpc>
            </a:pPr>
            <a:br>
              <a:rPr lang="en-US" sz="4400" i="0" dirty="0">
                <a:effectLst/>
                <a:latin typeface="Times New Roman" panose="02020603050405020304" pitchFamily="18" charset="0"/>
                <a:cs typeface="Times New Roman" panose="02020603050405020304" pitchFamily="18" charset="0"/>
              </a:rPr>
            </a:br>
            <a:endParaRPr lang="en-US" dirty="0"/>
          </a:p>
        </p:txBody>
      </p:sp>
      <p:sp>
        <p:nvSpPr>
          <p:cNvPr id="16" name="Content Placeholder 15">
            <a:extLst>
              <a:ext uri="{FF2B5EF4-FFF2-40B4-BE49-F238E27FC236}">
                <a16:creationId xmlns:a16="http://schemas.microsoft.com/office/drawing/2014/main" id="{08D40556-61CF-4158-B28E-F850598631D2}"/>
              </a:ext>
            </a:extLst>
          </p:cNvPr>
          <p:cNvSpPr>
            <a:spLocks noGrp="1"/>
          </p:cNvSpPr>
          <p:nvPr>
            <p:ph idx="1"/>
          </p:nvPr>
        </p:nvSpPr>
        <p:spPr>
          <a:xfrm>
            <a:off x="2586455" y="2293361"/>
            <a:ext cx="13036260" cy="7702541"/>
          </a:xfrm>
        </p:spPr>
        <p:txBody>
          <a:bodyPr>
            <a:normAutofit/>
          </a:bodyPr>
          <a:lstStyle/>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KENYA METHODIST UNIVERSITY</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SCHOOL OF COMPUTING AND INFORMATICS </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DEPARTMENT OF </a:t>
            </a:r>
            <a:r>
              <a:rPr lang="en-US" sz="3600" i="0" dirty="0">
                <a:solidFill>
                  <a:srgbClr val="222222"/>
                </a:solidFill>
                <a:effectLst/>
                <a:latin typeface="Times New Roman" panose="02020603050405020304" pitchFamily="18" charset="0"/>
                <a:cs typeface="Times New Roman" panose="02020603050405020304" pitchFamily="18" charset="0"/>
              </a:rPr>
              <a:t>INFORMATION TECHNOLOGY</a:t>
            </a:r>
            <a:endParaRPr lang="en-US" sz="3600" dirty="0">
              <a:latin typeface="Times New Roman" panose="02020603050405020304" pitchFamily="18" charset="0"/>
              <a:cs typeface="Times New Roman" panose="02020603050405020304" pitchFamily="18" charset="0"/>
            </a:endParaRP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UNIT CODE: BBIT 411</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UNIT TITLE: RESEARCH PROJECT</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RESEARCH TOPIC:</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REDBUBBLE MERCHANDISE BRANDING MOBILE APPLICATION</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PRESENTED BY: HIRAM KAROMO KAMAU</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REGISTRATION NUMBER: BIT-1-0967-3/2023</a:t>
            </a:r>
          </a:p>
          <a:p>
            <a:pPr marL="0" indent="0" algn="ctr">
              <a:buNone/>
              <a:defRPr sz="2400">
                <a:solidFill>
                  <a:srgbClr val="000000"/>
                </a:solidFill>
                <a:latin typeface="Calibri"/>
              </a:defRPr>
            </a:pPr>
            <a:r>
              <a:rPr lang="en-US" sz="3600" dirty="0">
                <a:latin typeface="Times New Roman" panose="02020603050405020304" pitchFamily="18" charset="0"/>
                <a:cs typeface="Times New Roman" panose="02020603050405020304" pitchFamily="18" charset="0"/>
              </a:rPr>
              <a:t>SUPERVISOR: MR. PETER WAWERU</a:t>
            </a:r>
          </a:p>
          <a:p>
            <a:pPr marL="0" indent="0" algn="ctr">
              <a:buNone/>
            </a:pPr>
            <a:endParaRPr lang="en-US" sz="3600" dirty="0">
              <a:latin typeface="Times New Roman" panose="02020603050405020304" pitchFamily="18" charset="0"/>
              <a:cs typeface="Times New Roman" panose="02020603050405020304" pitchFamily="18" charset="0"/>
            </a:endParaRPr>
          </a:p>
          <a:p>
            <a:pPr marL="0" indent="0" algn="ctr">
              <a:buNone/>
            </a:pPr>
            <a:endParaRPr lang="en-US" sz="3600" dirty="0">
              <a:latin typeface="Times New Roman" panose="02020603050405020304" pitchFamily="18" charset="0"/>
              <a:cs typeface="Times New Roman" panose="02020603050405020304" pitchFamily="18" charset="0"/>
            </a:endParaRPr>
          </a:p>
        </p:txBody>
      </p:sp>
      <p:graphicFrame>
        <p:nvGraphicFramePr>
          <p:cNvPr id="17" name="Object 16">
            <a:extLst>
              <a:ext uri="{FF2B5EF4-FFF2-40B4-BE49-F238E27FC236}">
                <a16:creationId xmlns:a16="http://schemas.microsoft.com/office/drawing/2014/main" id="{DC8F5AD5-CEF0-4B47-B4ED-A055F81B982D}"/>
              </a:ext>
            </a:extLst>
          </p:cNvPr>
          <p:cNvGraphicFramePr>
            <a:graphicFrameLocks noChangeAspect="1"/>
          </p:cNvGraphicFramePr>
          <p:nvPr>
            <p:extLst>
              <p:ext uri="{D42A27DB-BD31-4B8C-83A1-F6EECF244321}">
                <p14:modId xmlns:p14="http://schemas.microsoft.com/office/powerpoint/2010/main" val="4266377838"/>
              </p:ext>
            </p:extLst>
          </p:nvPr>
        </p:nvGraphicFramePr>
        <p:xfrm>
          <a:off x="7161851" y="149926"/>
          <a:ext cx="2257425" cy="2231830"/>
        </p:xfrm>
        <a:graphic>
          <a:graphicData uri="http://schemas.openxmlformats.org/presentationml/2006/ole">
            <mc:AlternateContent xmlns:mc="http://schemas.openxmlformats.org/markup-compatibility/2006">
              <mc:Choice xmlns:v="urn:schemas-microsoft-com:vml" Requires="v">
                <p:oleObj spid="_x0000_s1044" name="Picture" r:id="rId9" imgW="0" imgH="0" progId="StaticMetafile">
                  <p:embed/>
                </p:oleObj>
              </mc:Choice>
              <mc:Fallback>
                <p:oleObj name="Picture" r:id="rId9" imgW="0" imgH="0" progId="StaticMetafile">
                  <p:embed/>
                  <p:pic>
                    <p:nvPicPr>
                      <p:cNvPr id="6" name="Object 5">
                        <a:extLst>
                          <a:ext uri="{FF2B5EF4-FFF2-40B4-BE49-F238E27FC236}">
                            <a16:creationId xmlns:a16="http://schemas.microsoft.com/office/drawing/2014/main" id="{0F74EE63-2ED6-4BE7-A3C9-144A7E1F41B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1851" y="149926"/>
                        <a:ext cx="2257425" cy="2231830"/>
                      </a:xfrm>
                      <a:prstGeom prst="rect">
                        <a:avLst/>
                      </a:prstGeom>
                      <a:noFill/>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410080" y="-4545349"/>
            <a:ext cx="10534640" cy="19354800"/>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6114012" y="7553988"/>
            <a:ext cx="1988438" cy="1780997"/>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5" name="Freeform 5"/>
          <p:cNvSpPr/>
          <p:nvPr/>
        </p:nvSpPr>
        <p:spPr>
          <a:xfrm>
            <a:off x="15050831" y="-8520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alphaModFix amt="24000"/>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6" name="Freeform 6"/>
          <p:cNvSpPr/>
          <p:nvPr/>
        </p:nvSpPr>
        <p:spPr>
          <a:xfrm>
            <a:off x="107671" y="7895371"/>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r:embed="rId6">
              <a:alphaModFix amt="24000"/>
              <a:extLst>
                <a:ext uri="{96DAC541-7B7A-43D3-8B79-37D633B846F1}">
                  <asvg:svgBlip xmlns:asvg="http://schemas.microsoft.com/office/drawing/2016/SVG/main" r:embed="rId7"/>
                </a:ext>
              </a:extLst>
            </a:blip>
            <a:stretch>
              <a:fillRect/>
            </a:stretch>
          </a:blipFill>
        </p:spPr>
        <p:txBody>
          <a:bodyPr/>
          <a:lstStyle/>
          <a:p>
            <a:endParaRPr lang="en-US" dirty="0"/>
          </a:p>
        </p:txBody>
      </p:sp>
      <p:grpSp>
        <p:nvGrpSpPr>
          <p:cNvPr id="7" name="Group 7"/>
          <p:cNvGrpSpPr/>
          <p:nvPr/>
        </p:nvGrpSpPr>
        <p:grpSpPr>
          <a:xfrm>
            <a:off x="943482" y="2206199"/>
            <a:ext cx="16547540" cy="6563537"/>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sp>
        <p:sp>
          <p:nvSpPr>
            <p:cNvPr id="9" name="TextBox 9"/>
            <p:cNvSpPr txBox="1"/>
            <p:nvPr/>
          </p:nvSpPr>
          <p:spPr>
            <a:xfrm>
              <a:off x="0" y="-38100"/>
              <a:ext cx="3259624" cy="139147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514600" y="-84104"/>
            <a:ext cx="9894900" cy="2205732"/>
          </a:xfrm>
          <a:prstGeom prst="rect">
            <a:avLst/>
          </a:prstGeom>
        </p:spPr>
        <p:txBody>
          <a:bodyPr wrap="square" lIns="0" tIns="0" rIns="0" bIns="0" rtlCol="0" anchor="t">
            <a:spAutoFit/>
          </a:bodyPr>
          <a:lstStyle/>
          <a:p>
            <a:pPr algn="ctr">
              <a:lnSpc>
                <a:spcPts val="8560"/>
              </a:lnSpc>
            </a:pPr>
            <a:r>
              <a:rPr lang="en-US" sz="8000" b="1" dirty="0">
                <a:latin typeface="Times New Roman" panose="02020603050405020304" pitchFamily="18" charset="0"/>
                <a:cs typeface="Times New Roman" panose="02020603050405020304" pitchFamily="18" charset="0"/>
              </a:rPr>
              <a:t>Problem Statement</a:t>
            </a:r>
          </a:p>
          <a:p>
            <a:pPr algn="ctr">
              <a:lnSpc>
                <a:spcPts val="8560"/>
              </a:lnSpc>
            </a:pPr>
            <a:endParaRPr lang="en-US" sz="8000" b="1" dirty="0">
              <a:solidFill>
                <a:srgbClr val="000000"/>
              </a:solidFill>
              <a:latin typeface="Alegreya Sans SC Bold"/>
              <a:ea typeface="Alegreya Sans SC Bold"/>
              <a:cs typeface="Alegreya Sans SC Bold"/>
              <a:sym typeface="Alegreya Sans SC Bold"/>
            </a:endParaRPr>
          </a:p>
        </p:txBody>
      </p:sp>
      <p:sp>
        <p:nvSpPr>
          <p:cNvPr id="11" name="TextBox 11"/>
          <p:cNvSpPr txBox="1"/>
          <p:nvPr/>
        </p:nvSpPr>
        <p:spPr>
          <a:xfrm>
            <a:off x="4171086" y="3784511"/>
            <a:ext cx="9894900" cy="589713"/>
          </a:xfrm>
          <a:prstGeom prst="rect">
            <a:avLst/>
          </a:prstGeom>
        </p:spPr>
        <p:txBody>
          <a:bodyPr lIns="0" tIns="0" rIns="0" bIns="0" rtlCol="0" anchor="t">
            <a:spAutoFit/>
          </a:bodyPr>
          <a:lstStyle/>
          <a:p>
            <a:pPr algn="ctr">
              <a:lnSpc>
                <a:spcPts val="5082"/>
              </a:lnSpc>
            </a:pPr>
            <a:endParaRPr lang="en-US" sz="3300" dirty="0">
              <a:solidFill>
                <a:srgbClr val="000000"/>
              </a:solidFill>
              <a:latin typeface="Times New Roman" panose="02020603050405020304" pitchFamily="18" charset="0"/>
              <a:ea typeface="Aileron"/>
              <a:cs typeface="Times New Roman" panose="02020603050405020304" pitchFamily="18" charset="0"/>
              <a:sym typeface="Aileron"/>
            </a:endParaRPr>
          </a:p>
        </p:txBody>
      </p:sp>
      <p:sp>
        <p:nvSpPr>
          <p:cNvPr id="13" name="Content Placeholder 12">
            <a:extLst>
              <a:ext uri="{FF2B5EF4-FFF2-40B4-BE49-F238E27FC236}">
                <a16:creationId xmlns:a16="http://schemas.microsoft.com/office/drawing/2014/main" id="{DFB6C886-826C-4675-9BDD-5343D2408093}"/>
              </a:ext>
            </a:extLst>
          </p:cNvPr>
          <p:cNvSpPr>
            <a:spLocks noGrp="1"/>
          </p:cNvSpPr>
          <p:nvPr>
            <p:ph idx="1"/>
          </p:nvPr>
        </p:nvSpPr>
        <p:spPr>
          <a:xfrm>
            <a:off x="1041755" y="2510024"/>
            <a:ext cx="16449267" cy="6563537"/>
          </a:xfrm>
        </p:spPr>
        <p:txBody>
          <a:bodyPr>
            <a:noAutofit/>
          </a:bodyPr>
          <a:lstStyle/>
          <a:p>
            <a:pPr marL="0" indent="0" algn="just">
              <a:buNone/>
            </a:pPr>
            <a:r>
              <a:rPr lang="en-US" sz="2800" b="1" dirty="0">
                <a:latin typeface="Times New Roman" panose="02020603050405020304" pitchFamily="18" charset="0"/>
                <a:cs typeface="Times New Roman" panose="02020603050405020304" pitchFamily="18" charset="0"/>
              </a:rPr>
              <a:t>Ideal Situation</a:t>
            </a:r>
          </a:p>
          <a:p>
            <a:pPr marL="0" indent="0" algn="just">
              <a:buNone/>
            </a:pPr>
            <a:r>
              <a:rPr lang="en-US" sz="2800" kern="100" dirty="0">
                <a:latin typeface="Times New Roman" panose="02020603050405020304" pitchFamily="18" charset="0"/>
                <a:ea typeface="Calibri" panose="020F0502020204030204" pitchFamily="34" charset="0"/>
                <a:cs typeface="Times New Roman" panose="02020603050405020304" pitchFamily="18" charset="0"/>
              </a:rPr>
              <a:t>I</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n an </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ideal situation a customer should send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their artwork description </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and suggested design, receive</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an instant quotation  price and make payment, interact with the assigned the designer, technician and driver automatically, tracks every step from design approval to doorstep delivery, send feedback and ratings to improve future service.</a:t>
            </a:r>
          </a:p>
          <a:p>
            <a:pPr marL="0" indent="0" algn="just">
              <a:buNone/>
            </a:pPr>
            <a:r>
              <a:rPr lang="en-US" sz="2800" b="1" dirty="0">
                <a:latin typeface="Times New Roman" panose="02020603050405020304" pitchFamily="18" charset="0"/>
                <a:cs typeface="Times New Roman" panose="02020603050405020304" pitchFamily="18" charset="0"/>
              </a:rPr>
              <a:t>Current situation </a:t>
            </a:r>
          </a:p>
          <a:p>
            <a:pPr marL="0" indent="0" algn="just">
              <a:buNone/>
            </a:pPr>
            <a:r>
              <a:rPr lang="en-US" sz="2800" dirty="0">
                <a:latin typeface="Times New Roman" panose="02020603050405020304" pitchFamily="18" charset="0"/>
                <a:cs typeface="Times New Roman" panose="02020603050405020304" pitchFamily="18" charset="0"/>
              </a:rPr>
              <a:t>Currently there is a s</a:t>
            </a:r>
            <a:r>
              <a:rPr lang="en-US" sz="2800" b="0" i="0" dirty="0">
                <a:effectLst/>
                <a:latin typeface="Times New Roman" panose="02020603050405020304" pitchFamily="18" charset="0"/>
                <a:cs typeface="Times New Roman" panose="02020603050405020304" pitchFamily="18" charset="0"/>
              </a:rPr>
              <a:t>eparate follow ups with designers, technicians and delivery services, lack of visibility of order status, leading to repeat calls and delays ,no structured feedback channel once goods are delivered</a:t>
            </a:r>
          </a:p>
          <a:p>
            <a:pPr marL="0" indent="0" algn="just">
              <a:buNone/>
            </a:pPr>
            <a:r>
              <a:rPr lang="en-US" sz="2800" b="1" dirty="0">
                <a:latin typeface="Times New Roman" panose="02020603050405020304" pitchFamily="18" charset="0"/>
                <a:cs typeface="Times New Roman" panose="02020603050405020304" pitchFamily="18" charset="0"/>
              </a:rPr>
              <a:t>Problem Gap</a:t>
            </a:r>
          </a:p>
          <a:p>
            <a:pPr marL="0" indent="0" algn="just">
              <a:buNone/>
            </a:pPr>
            <a:r>
              <a:rPr lang="en-US" sz="2800" b="0" i="0" dirty="0">
                <a:effectLst/>
                <a:latin typeface="Times New Roman" panose="02020603050405020304" pitchFamily="18" charset="0"/>
                <a:cs typeface="Times New Roman" panose="02020603050405020304" pitchFamily="18" charset="0"/>
              </a:rPr>
              <a:t>No single app lets customers submit a design, pay, and watch their order move automatically from designer to technician to driver with live tracking and feedback until now.</a:t>
            </a:r>
          </a:p>
          <a:p>
            <a:pPr marL="0" indent="0" algn="just">
              <a:buNone/>
            </a:pPr>
            <a:r>
              <a:rPr lang="en-US" sz="2800" b="1" dirty="0">
                <a:latin typeface="Times New Roman" panose="02020603050405020304" pitchFamily="18" charset="0"/>
                <a:cs typeface="Times New Roman" panose="02020603050405020304" pitchFamily="18" charset="0"/>
              </a:rPr>
              <a:t>Developed system </a:t>
            </a:r>
            <a:r>
              <a:rPr lang="en-US" sz="2800" b="0" i="0" dirty="0">
                <a:effectLst/>
                <a:latin typeface="Times New Roman" panose="02020603050405020304" pitchFamily="18" charset="0"/>
                <a:cs typeface="Times New Roman" panose="02020603050405020304" pitchFamily="18" charset="0"/>
              </a:rPr>
              <a:t>The developed system allows user to upload design and get an instant quotation, </a:t>
            </a:r>
            <a:r>
              <a:rPr lang="en-US" sz="2800" dirty="0">
                <a:latin typeface="Times New Roman" panose="02020603050405020304" pitchFamily="18" charset="0"/>
                <a:cs typeface="Times New Roman" panose="02020603050405020304" pitchFamily="18" charset="0"/>
              </a:rPr>
              <a:t>it also accepts </a:t>
            </a:r>
            <a:r>
              <a:rPr lang="en-US" sz="2800" b="0" i="0" dirty="0">
                <a:effectLst/>
                <a:latin typeface="Times New Roman" panose="02020603050405020304" pitchFamily="18" charset="0"/>
                <a:cs typeface="Times New Roman" panose="02020603050405020304" pitchFamily="18" charset="0"/>
              </a:rPr>
              <a:t>mobile money</a:t>
            </a:r>
            <a:r>
              <a:rPr lang="en-US" sz="2800" dirty="0">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card payment ,real time order tracking, digital proof of delivery and star rating feedback loop</a:t>
            </a:r>
          </a:p>
          <a:p>
            <a:pPr marL="0" indent="0" algn="just">
              <a:buNone/>
            </a:pPr>
            <a:r>
              <a:rPr lang="en-US" sz="2800" b="0" i="0" dirty="0">
                <a:effectLst/>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12" name="Freeform 3">
            <a:extLst>
              <a:ext uri="{FF2B5EF4-FFF2-40B4-BE49-F238E27FC236}">
                <a16:creationId xmlns:a16="http://schemas.microsoft.com/office/drawing/2014/main" id="{AF9BBFF8-B78A-CF20-3565-B2988A13CBD8}"/>
              </a:ext>
            </a:extLst>
          </p:cNvPr>
          <p:cNvSpPr/>
          <p:nvPr/>
        </p:nvSpPr>
        <p:spPr>
          <a:xfrm flipV="1">
            <a:off x="166784" y="0"/>
            <a:ext cx="1204816" cy="1842930"/>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48754" y="-3977746"/>
            <a:ext cx="10241491" cy="18288001"/>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4" name="Freeform 4"/>
          <p:cNvSpPr/>
          <p:nvPr/>
        </p:nvSpPr>
        <p:spPr>
          <a:xfrm flipH="1">
            <a:off x="15776362" y="7723655"/>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782800" y="3581"/>
            <a:ext cx="3530700" cy="3387319"/>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alphaModFix amt="24000"/>
              <a:extLst>
                <a:ext uri="{96DAC541-7B7A-43D3-8B79-37D633B846F1}">
                  <asvg:svgBlip xmlns:asvg="http://schemas.microsoft.com/office/drawing/2016/SVG/main" r:embed="rId8"/>
                </a:ext>
              </a:extLst>
            </a:blip>
            <a:stretch>
              <a:fillRect/>
            </a:stretch>
          </a:blipFill>
        </p:spPr>
      </p:sp>
      <p:sp>
        <p:nvSpPr>
          <p:cNvPr id="6" name="Freeform 6"/>
          <p:cNvSpPr/>
          <p:nvPr/>
        </p:nvSpPr>
        <p:spPr>
          <a:xfrm>
            <a:off x="-61983" y="7593622"/>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r:embed="rId7">
              <a:alphaModFix amt="24000"/>
              <a:extLst>
                <a:ext uri="{96DAC541-7B7A-43D3-8B79-37D633B846F1}">
                  <asvg:svgBlip xmlns:asvg="http://schemas.microsoft.com/office/drawing/2016/SVG/main" r:embed="rId8"/>
                </a:ext>
              </a:extLst>
            </a:blip>
            <a:stretch>
              <a:fillRect/>
            </a:stretch>
          </a:blipFill>
        </p:spPr>
      </p:sp>
      <p:grpSp>
        <p:nvGrpSpPr>
          <p:cNvPr id="7" name="Group 7"/>
          <p:cNvGrpSpPr/>
          <p:nvPr/>
        </p:nvGrpSpPr>
        <p:grpSpPr>
          <a:xfrm>
            <a:off x="1828800" y="1010001"/>
            <a:ext cx="15284152" cy="7649372"/>
            <a:chOff x="0" y="-38100"/>
            <a:chExt cx="3431379" cy="687655"/>
          </a:xfrm>
        </p:grpSpPr>
        <p:sp>
          <p:nvSpPr>
            <p:cNvPr id="8" name="Freeform 8"/>
            <p:cNvSpPr/>
            <p:nvPr/>
          </p:nvSpPr>
          <p:spPr>
            <a:xfrm>
              <a:off x="0" y="4703"/>
              <a:ext cx="3431379" cy="644852"/>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dirty="0"/>
            </a:p>
          </p:txBody>
        </p:sp>
        <p:sp>
          <p:nvSpPr>
            <p:cNvPr id="9" name="TextBox 9"/>
            <p:cNvSpPr txBox="1"/>
            <p:nvPr/>
          </p:nvSpPr>
          <p:spPr>
            <a:xfrm>
              <a:off x="0" y="-38100"/>
              <a:ext cx="3431379" cy="68765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952763" y="156467"/>
            <a:ext cx="8531143" cy="1102866"/>
          </a:xfrm>
          <a:prstGeom prst="rect">
            <a:avLst/>
          </a:prstGeom>
        </p:spPr>
        <p:txBody>
          <a:bodyPr lIns="0" tIns="0" rIns="0" bIns="0" rtlCol="0" anchor="t">
            <a:spAutoFit/>
          </a:bodyPr>
          <a:lstStyle/>
          <a:p>
            <a:pPr algn="l">
              <a:lnSpc>
                <a:spcPts val="8560"/>
              </a:lnSpc>
            </a:pPr>
            <a:endParaRPr lang="en-US" sz="8000" b="1" dirty="0">
              <a:solidFill>
                <a:srgbClr val="000000"/>
              </a:solidFill>
              <a:latin typeface="Alegreya Sans SC Bold"/>
              <a:ea typeface="Alegreya Sans SC Bold"/>
              <a:cs typeface="Alegreya Sans SC Bold"/>
              <a:sym typeface="Alegreya Sans SC Bold"/>
            </a:endParaRPr>
          </a:p>
        </p:txBody>
      </p:sp>
      <p:sp>
        <p:nvSpPr>
          <p:cNvPr id="13" name="Content Placeholder 12">
            <a:extLst>
              <a:ext uri="{FF2B5EF4-FFF2-40B4-BE49-F238E27FC236}">
                <a16:creationId xmlns:a16="http://schemas.microsoft.com/office/drawing/2014/main" id="{E149733D-A0E4-48EB-B59E-3A29D1026CE1}"/>
              </a:ext>
            </a:extLst>
          </p:cNvPr>
          <p:cNvSpPr>
            <a:spLocks noGrp="1"/>
          </p:cNvSpPr>
          <p:nvPr>
            <p:ph idx="1"/>
          </p:nvPr>
        </p:nvSpPr>
        <p:spPr>
          <a:xfrm>
            <a:off x="2158251" y="1484343"/>
            <a:ext cx="14782508" cy="7342182"/>
          </a:xfrm>
        </p:spPr>
        <p:txBody>
          <a:bodyPr>
            <a:noAutofit/>
          </a:bodyPr>
          <a:lstStyle/>
          <a:p>
            <a:pPr>
              <a:lnSpc>
                <a:spcPct val="150000"/>
              </a:lnSpc>
            </a:pPr>
            <a:r>
              <a:rPr lang="en-US" b="1" i="0" dirty="0">
                <a:effectLst/>
                <a:latin typeface="Times New Roman" panose="02020603050405020304" pitchFamily="18" charset="0"/>
                <a:cs typeface="Times New Roman" panose="02020603050405020304" pitchFamily="18" charset="0"/>
              </a:rPr>
              <a:t>General Objective: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To Develop a mobile application</a:t>
            </a:r>
            <a:r>
              <a:rPr lang="en-US" dirty="0">
                <a:latin typeface="Times New Roman" panose="02020603050405020304" pitchFamily="18" charset="0"/>
                <a:cs typeface="Times New Roman" panose="02020603050405020304" pitchFamily="18" charset="0"/>
              </a:rPr>
              <a:t> for </a:t>
            </a:r>
            <a:r>
              <a:rPr lang="en-US" b="0" i="0" dirty="0">
                <a:effectLst/>
                <a:latin typeface="Times New Roman" panose="02020603050405020304" pitchFamily="18" charset="0"/>
                <a:cs typeface="Times New Roman" panose="02020603050405020304" pitchFamily="18" charset="0"/>
              </a:rPr>
              <a:t>Redbubble merchandise branding </a:t>
            </a:r>
          </a:p>
          <a:p>
            <a:pPr>
              <a:lnSpc>
                <a:spcPct val="150000"/>
              </a:lnSpc>
            </a:pPr>
            <a:r>
              <a:rPr lang="en-US" b="1" i="0" dirty="0">
                <a:effectLst/>
                <a:latin typeface="Times New Roman" panose="02020603050405020304" pitchFamily="18" charset="0"/>
                <a:cs typeface="Times New Roman" panose="02020603050405020304" pitchFamily="18" charset="0"/>
              </a:rPr>
              <a:t>Specific Objectives:</a:t>
            </a:r>
            <a:endParaRPr lang="en-US" b="0" i="0" dirty="0">
              <a:effectLst/>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To create a database module for Redbubble merchandise branding </a:t>
            </a:r>
          </a:p>
          <a:p>
            <a:pPr>
              <a:lnSpc>
                <a:spcPct val="150000"/>
              </a:lnSpc>
            </a:pPr>
            <a:r>
              <a:rPr lang="en-US" dirty="0">
                <a:latin typeface="Times New Roman" panose="02020603050405020304" pitchFamily="18" charset="0"/>
                <a:cs typeface="Times New Roman" panose="02020603050405020304" pitchFamily="18" charset="0"/>
              </a:rPr>
              <a:t>To develop an administrator web interface for Redbubble merchandise branding </a:t>
            </a:r>
          </a:p>
          <a:p>
            <a:pPr>
              <a:lnSpc>
                <a:spcPct val="150000"/>
              </a:lnSpc>
            </a:pPr>
            <a:r>
              <a:rPr lang="en-US" dirty="0">
                <a:latin typeface="Times New Roman" panose="02020603050405020304" pitchFamily="18" charset="0"/>
                <a:cs typeface="Times New Roman" panose="02020603050405020304" pitchFamily="18" charset="0"/>
              </a:rPr>
              <a:t>To develop a mobile application for front end users of Redbubble merchandise branding </a:t>
            </a:r>
          </a:p>
          <a:p>
            <a:pPr>
              <a:lnSpc>
                <a:spcPct val="150000"/>
              </a:lnSpc>
            </a:pPr>
            <a:r>
              <a:rPr lang="en-US" dirty="0">
                <a:latin typeface="Times New Roman" panose="02020603050405020304" pitchFamily="18" charset="0"/>
                <a:cs typeface="Times New Roman" panose="02020603050405020304" pitchFamily="18" charset="0"/>
              </a:rPr>
              <a:t>To develop a module for generating reports and analytics  for Redbubble merchandise branding </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14" name="TextBox 10">
            <a:extLst>
              <a:ext uri="{FF2B5EF4-FFF2-40B4-BE49-F238E27FC236}">
                <a16:creationId xmlns:a16="http://schemas.microsoft.com/office/drawing/2014/main" id="{1FDF32A0-FFA0-4DAC-990A-029EB09984FC}"/>
              </a:ext>
            </a:extLst>
          </p:cNvPr>
          <p:cNvSpPr txBox="1"/>
          <p:nvPr/>
        </p:nvSpPr>
        <p:spPr>
          <a:xfrm>
            <a:off x="2631395" y="344362"/>
            <a:ext cx="10376257" cy="2205732"/>
          </a:xfrm>
          <a:prstGeom prst="rect">
            <a:avLst/>
          </a:prstGeom>
        </p:spPr>
        <p:txBody>
          <a:bodyPr wrap="square" lIns="0" tIns="0" rIns="0" bIns="0" rtlCol="0" anchor="t">
            <a:spAutoFit/>
          </a:bodyPr>
          <a:lstStyle/>
          <a:p>
            <a:pPr algn="ctr">
              <a:lnSpc>
                <a:spcPts val="8560"/>
              </a:lnSpc>
            </a:pPr>
            <a:r>
              <a:rPr lang="en-US" sz="9600" b="1" dirty="0">
                <a:latin typeface="Times New Roman" panose="02020603050405020304" pitchFamily="18" charset="0"/>
                <a:cs typeface="Times New Roman" panose="02020603050405020304" pitchFamily="18" charset="0"/>
              </a:rPr>
              <a:t>Objectives</a:t>
            </a:r>
            <a:br>
              <a:rPr lang="en-US" sz="9600" b="1" dirty="0">
                <a:latin typeface="Times New Roman" panose="02020603050405020304" pitchFamily="18" charset="0"/>
                <a:cs typeface="Times New Roman" panose="02020603050405020304" pitchFamily="18" charset="0"/>
              </a:rPr>
            </a:br>
            <a:endParaRPr lang="en-US" sz="80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endParaRPr>
          </a:p>
        </p:txBody>
      </p:sp>
      <p:sp>
        <p:nvSpPr>
          <p:cNvPr id="11" name="Freeform 3">
            <a:extLst>
              <a:ext uri="{FF2B5EF4-FFF2-40B4-BE49-F238E27FC236}">
                <a16:creationId xmlns:a16="http://schemas.microsoft.com/office/drawing/2014/main" id="{8D64DC90-28BE-4CD0-06D9-9950F12D2A60}"/>
              </a:ext>
            </a:extLst>
          </p:cNvPr>
          <p:cNvSpPr/>
          <p:nvPr/>
        </p:nvSpPr>
        <p:spPr>
          <a:xfrm flipV="1">
            <a:off x="86813" y="17554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797579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37183" y="-3916567"/>
            <a:ext cx="10244518" cy="18288000"/>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188642" y="3774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alphaModFix amt="24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53497" y="76563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r:embed="rId4">
              <a:alphaModFix amt="24000"/>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7" name="Group 7"/>
          <p:cNvGrpSpPr/>
          <p:nvPr/>
        </p:nvGrpSpPr>
        <p:grpSpPr>
          <a:xfrm>
            <a:off x="1853390" y="1488895"/>
            <a:ext cx="13428103" cy="7142974"/>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sp>
        <p:sp>
          <p:nvSpPr>
            <p:cNvPr id="9" name="TextBox 9"/>
            <p:cNvSpPr txBox="1"/>
            <p:nvPr/>
          </p:nvSpPr>
          <p:spPr>
            <a:xfrm>
              <a:off x="0" y="-38100"/>
              <a:ext cx="3259624" cy="139147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962400" y="520893"/>
            <a:ext cx="7959961" cy="2205732"/>
          </a:xfrm>
          <a:prstGeom prst="rect">
            <a:avLst/>
          </a:prstGeom>
        </p:spPr>
        <p:txBody>
          <a:bodyPr wrap="square" lIns="0" tIns="0" rIns="0" bIns="0" rtlCol="0" anchor="t">
            <a:spAutoFit/>
          </a:bodyPr>
          <a:lstStyle/>
          <a:p>
            <a:pPr algn="ctr">
              <a:lnSpc>
                <a:spcPts val="8560"/>
              </a:lnSpc>
            </a:pPr>
            <a:r>
              <a:rPr lang="en-US" sz="9600" b="0" i="0" dirty="0">
                <a:effectLst/>
                <a:latin typeface="Times New Roman" panose="02020603050405020304" pitchFamily="18" charset="0"/>
                <a:cs typeface="Times New Roman" panose="02020603050405020304" pitchFamily="18" charset="0"/>
              </a:rPr>
              <a:t>SCOPE</a:t>
            </a:r>
          </a:p>
          <a:p>
            <a:pPr algn="ctr">
              <a:lnSpc>
                <a:spcPts val="8560"/>
              </a:lnSpc>
            </a:pPr>
            <a:endParaRPr lang="en-US" sz="80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endParaRPr>
          </a:p>
        </p:txBody>
      </p:sp>
      <p:sp>
        <p:nvSpPr>
          <p:cNvPr id="25" name="Rectangle 3">
            <a:extLst>
              <a:ext uri="{FF2B5EF4-FFF2-40B4-BE49-F238E27FC236}">
                <a16:creationId xmlns:a16="http://schemas.microsoft.com/office/drawing/2014/main" id="{B48B0DA3-233B-4066-A716-5A4FE4198E11}"/>
              </a:ext>
            </a:extLst>
          </p:cNvPr>
          <p:cNvSpPr>
            <a:spLocks noGrp="1" noChangeArrowheads="1"/>
          </p:cNvSpPr>
          <p:nvPr>
            <p:ph sz="half" idx="1"/>
          </p:nvPr>
        </p:nvSpPr>
        <p:spPr bwMode="auto">
          <a:xfrm>
            <a:off x="3048769" y="1605871"/>
            <a:ext cx="6188825" cy="6651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Ø"/>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Module</a:t>
            </a:r>
          </a:p>
          <a:p>
            <a:pPr eaLnBrk="0" fontAlgn="base" hangingPunct="0">
              <a:lnSpc>
                <a:spcPct val="150000"/>
              </a:lnSpc>
              <a:spcBef>
                <a:spcPct val="0"/>
              </a:spcBef>
              <a:spcAft>
                <a:spcPct val="0"/>
              </a:spcAft>
              <a:buFont typeface="Wingdings" panose="05000000000000000000" pitchFamily="2" charset="2"/>
              <a:buChar char="Ø"/>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Administrator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Booking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module</a:t>
            </a:r>
          </a:p>
          <a:p>
            <a:pPr eaLnBrk="0" fontAlgn="base" hangingPunct="0">
              <a:lnSpc>
                <a:spcPct val="150000"/>
              </a:lnSpc>
              <a:spcBef>
                <a:spcPct val="0"/>
              </a:spcBef>
              <a:spcAft>
                <a:spcPct val="0"/>
              </a:spcAft>
              <a:buFont typeface="Wingdings" panose="05000000000000000000" pitchFamily="2" charset="2"/>
              <a:buChar char="Ø"/>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Inventory &amp; Stock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Designer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Supplier Module </a:t>
            </a:r>
          </a:p>
          <a:p>
            <a:pPr eaLnBrk="0" fontAlgn="base" hangingPunct="0">
              <a:lnSpc>
                <a:spcPct val="150000"/>
              </a:lnSpc>
              <a:spcBef>
                <a:spcPct val="0"/>
              </a:spcBef>
              <a:spcAft>
                <a:spcPct val="0"/>
              </a:spcAft>
              <a:buFont typeface="Wingdings" panose="05000000000000000000" pitchFamily="2" charset="2"/>
              <a:buChar char="Ø"/>
            </a:pPr>
            <a:r>
              <a:rPr lang="en-US" altLang="en-US" sz="3200" dirty="0">
                <a:latin typeface="Times New Roman" panose="02020603050405020304" pitchFamily="18" charset="0"/>
                <a:cs typeface="Times New Roman" panose="02020603050405020304" pitchFamily="18" charset="0"/>
              </a:rPr>
              <a:t>Technician Module </a:t>
            </a:r>
            <a:endPar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3200" dirty="0">
                <a:latin typeface="Times New Roman" panose="02020603050405020304" pitchFamily="18" charset="0"/>
                <a:cs typeface="Times New Roman" panose="02020603050405020304" pitchFamily="18" charset="0"/>
              </a:rPr>
              <a:t>Dispatch</a:t>
            </a: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a:t>
            </a:r>
          </a:p>
        </p:txBody>
      </p:sp>
      <p:sp>
        <p:nvSpPr>
          <p:cNvPr id="26" name="Rectangle 4">
            <a:extLst>
              <a:ext uri="{FF2B5EF4-FFF2-40B4-BE49-F238E27FC236}">
                <a16:creationId xmlns:a16="http://schemas.microsoft.com/office/drawing/2014/main" id="{0B0C1526-5C72-4B9F-82A6-ED61FDD4E534}"/>
              </a:ext>
            </a:extLst>
          </p:cNvPr>
          <p:cNvSpPr>
            <a:spLocks noGrp="1" noChangeArrowheads="1"/>
          </p:cNvSpPr>
          <p:nvPr>
            <p:ph sz="half" idx="2"/>
          </p:nvPr>
        </p:nvSpPr>
        <p:spPr bwMode="auto">
          <a:xfrm>
            <a:off x="8546702" y="1975202"/>
            <a:ext cx="8458200" cy="5913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Drivers module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Reports Module </a:t>
            </a:r>
          </a:p>
          <a:p>
            <a:pPr eaLnBrk="0" fontAlgn="base" hangingPunct="0">
              <a:lnSpc>
                <a:spcPct val="150000"/>
              </a:lnSpc>
              <a:spcBef>
                <a:spcPct val="0"/>
              </a:spcBef>
              <a:spcAft>
                <a:spcPct val="0"/>
              </a:spcAft>
              <a:buFont typeface="Wingdings" panose="05000000000000000000" pitchFamily="2" charset="2"/>
              <a:buChar char="Ø"/>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&amp; Filter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 &amp; Support Module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Payment &amp; Invoice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&amp; Review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About Us Module.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Contact Us Module </a:t>
            </a:r>
          </a:p>
        </p:txBody>
      </p:sp>
      <p:sp>
        <p:nvSpPr>
          <p:cNvPr id="11" name="Freeform 3">
            <a:extLst>
              <a:ext uri="{FF2B5EF4-FFF2-40B4-BE49-F238E27FC236}">
                <a16:creationId xmlns:a16="http://schemas.microsoft.com/office/drawing/2014/main" id="{6716CE07-2BD5-55B4-AA4C-CD5FE585FE41}"/>
              </a:ext>
            </a:extLst>
          </p:cNvPr>
          <p:cNvSpPr/>
          <p:nvPr/>
        </p:nvSpPr>
        <p:spPr>
          <a:xfrm flipV="1">
            <a:off x="110881" y="105175"/>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4">
            <a:extLst>
              <a:ext uri="{FF2B5EF4-FFF2-40B4-BE49-F238E27FC236}">
                <a16:creationId xmlns:a16="http://schemas.microsoft.com/office/drawing/2014/main" id="{0794B8F3-051E-45F9-9893-2285D8248FEB}"/>
              </a:ext>
            </a:extLst>
          </p:cNvPr>
          <p:cNvSpPr/>
          <p:nvPr/>
        </p:nvSpPr>
        <p:spPr>
          <a:xfrm flipH="1">
            <a:off x="15645028" y="7670902"/>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7762</TotalTime>
  <Words>335</Words>
  <Application>Microsoft Office PowerPoint</Application>
  <PresentationFormat>Custom</PresentationFormat>
  <Paragraphs>46</Paragraphs>
  <Slides>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2" baseType="lpstr">
      <vt:lpstr>Calibri</vt:lpstr>
      <vt:lpstr>Aileron Bold</vt:lpstr>
      <vt:lpstr>Arial</vt:lpstr>
      <vt:lpstr>Times New Roman</vt:lpstr>
      <vt:lpstr>Wingdings</vt:lpstr>
      <vt:lpstr>Alegreya Sans SC Bold</vt:lpstr>
      <vt:lpstr>Office Theme</vt:lpstr>
      <vt:lpstr>Picture</vt:lpstr>
      <vt:lpstr>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Hiram</dc:creator>
  <cp:lastModifiedBy>hiram karomo</cp:lastModifiedBy>
  <cp:revision>73</cp:revision>
  <dcterms:created xsi:type="dcterms:W3CDTF">2006-08-16T00:00:00Z</dcterms:created>
  <dcterms:modified xsi:type="dcterms:W3CDTF">2025-11-22T09:01:36Z</dcterms:modified>
  <dc:identifier>DAGtaRndoxY</dc:identifier>
</cp:coreProperties>
</file>